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Space Grotesk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Inter-regular.fntdata"/><Relationship Id="rId21" Type="http://schemas.openxmlformats.org/officeDocument/2006/relationships/slide" Target="slides/slide17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paceGrotesk-bold.fntdata"/><Relationship Id="rId25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h62fdbc60c61bbb94_1_30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h62fdbc60c61bbb94_1_302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62fdbc60c61bbb94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h62fdbc60c61bbb94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h62fdbc60c61bbb94_1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62fdbc60c61bbb94_1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h62fdbc60c61bbb94_1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62fdbc60c61bbb94_1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62fdbc60c61bbb94_1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h62fdbc60c61bbb94_1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h62fdbc60c61bbb94_1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62fdbc60c61bbb94_1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h62fdbc60c61bbb94_1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h62fdbc60c61bbb94_1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62fdbc60c61bbb94_1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h62fdbc60c61bbb94_1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62fdbc60c61bbb94_1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62fdbc60c61bbb9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h62fdbc60c61bbb9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h62fdbc60c61bbb9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/>
            </a:lvl1pPr>
            <a:lvl2pPr indent="0" lvl="1" marL="0" algn="r">
              <a:spcBef>
                <a:spcPts val="0"/>
              </a:spcBef>
              <a:buNone/>
              <a:defRPr sz="700"/>
            </a:lvl2pPr>
            <a:lvl3pPr indent="0" lvl="2" marL="0" algn="r">
              <a:spcBef>
                <a:spcPts val="0"/>
              </a:spcBef>
              <a:buNone/>
              <a:defRPr sz="700"/>
            </a:lvl3pPr>
            <a:lvl4pPr indent="0" lvl="3" marL="0" algn="r">
              <a:spcBef>
                <a:spcPts val="0"/>
              </a:spcBef>
              <a:buNone/>
              <a:defRPr sz="700"/>
            </a:lvl4pPr>
            <a:lvl5pPr indent="0" lvl="4" marL="0" algn="r">
              <a:spcBef>
                <a:spcPts val="0"/>
              </a:spcBef>
              <a:buNone/>
              <a:defRPr sz="700"/>
            </a:lvl5pPr>
            <a:lvl6pPr indent="0" lvl="5" marL="0" algn="r">
              <a:spcBef>
                <a:spcPts val="0"/>
              </a:spcBef>
              <a:buNone/>
              <a:defRPr sz="700"/>
            </a:lvl6pPr>
            <a:lvl7pPr indent="0" lvl="6" marL="0" algn="r">
              <a:spcBef>
                <a:spcPts val="0"/>
              </a:spcBef>
              <a:buNone/>
              <a:defRPr sz="700"/>
            </a:lvl7pPr>
            <a:lvl8pPr indent="0" lvl="7" marL="0" algn="r">
              <a:spcBef>
                <a:spcPts val="0"/>
              </a:spcBef>
              <a:buNone/>
              <a:defRPr sz="700"/>
            </a:lvl8pPr>
            <a:lvl9pPr indent="0" lvl="8" marL="0" algn="r">
              <a:spcBef>
                <a:spcPts val="0"/>
              </a:spcBef>
              <a:buNone/>
              <a:defRPr sz="7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23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hyperlink" Target="https://github.com/NapoleaoJunior/UC10_PF_MACHINE_LEARNING" TargetMode="External"/><Relationship Id="rId5" Type="http://schemas.openxmlformats.org/officeDocument/2006/relationships/hyperlink" Target="https://docs.google.com/document/d/1Fn1f0STOWUUf6I2oSITAxSvL6rS_z-3B/edit?usp=sharing&amp;ouid=107562332198605647163&amp;rtpof=true&amp;sd=true" TargetMode="External"/><Relationship Id="rId6" Type="http://schemas.openxmlformats.org/officeDocument/2006/relationships/hyperlink" Target="https://www.kaggle.com/datasets/harshadapatil31/student-performance-and-study-habits-datase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25.png"/><Relationship Id="rId5" Type="http://schemas.openxmlformats.org/officeDocument/2006/relationships/image" Target="../media/image2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285750" y="1995283"/>
            <a:ext cx="857250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PROJETO INTEGRADOR UC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285750" y="2216739"/>
            <a:ext cx="6429375" cy="1508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3300"/>
              <a:buFont typeface="Space Grotesk"/>
              <a:buNone/>
            </a:pPr>
            <a:r>
              <a:rPr b="1" i="0" lang="en-US" sz="33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Previsão de Desempenho Acadêmico com Machine Learning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285750" y="4011216"/>
            <a:ext cx="85725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Napoleão Júnior, Tainara Almeida, Júlia Stefany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85750" y="4271963"/>
            <a:ext cx="85725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Ciência de Dados • 2026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Da rotina de estudos à previsão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85750" y="864394"/>
            <a:ext cx="4179094" cy="399335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500063" y="1078706"/>
            <a:ext cx="3750469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1050"/>
              <a:buFont typeface="Space Grotesk"/>
              <a:buNone/>
            </a:pPr>
            <a:r>
              <a:rPr b="1" i="0" lang="en-US" sz="10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PROBLEMA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500063" y="1403747"/>
            <a:ext cx="3750469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Como prever o desempenho acadêmico de estudantes com base em hábitos de estudo e estilo de vida? A identificação precoce de alunos em risco permite </a:t>
            </a:r>
            <a:r>
              <a:rPr b="1" i="0" lang="en-US" sz="9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intervenções pedagógicas direcionadas</a:t>
            </a:r>
            <a:r>
              <a:rPr b="0" i="0" lang="en-US" sz="9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679156" y="864394"/>
            <a:ext cx="4179094" cy="399335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893469" y="1078706"/>
            <a:ext cx="3750469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1050"/>
              <a:buFont typeface="Space Grotesk"/>
              <a:buNone/>
            </a:pPr>
            <a:r>
              <a:rPr b="1" i="0" lang="en-US" sz="10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O OBJETIVO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893469" y="1403747"/>
            <a:ext cx="3750469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Desenvolver um pipeline de Machine Learning para classificar estudantes nas categorias </a:t>
            </a:r>
            <a:r>
              <a:rPr b="1" i="0" lang="en-US" sz="9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A, B, C, D ou F</a:t>
            </a:r>
            <a:r>
              <a:rPr b="0" i="0" lang="en-US" sz="9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, avaliando a influência de variáveis socioeconômicas e comportamentais na nota final.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6084275" y="1258250"/>
            <a:ext cx="2753700" cy="35433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3185225" y="1258250"/>
            <a:ext cx="2753700" cy="35433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374850" y="1258250"/>
            <a:ext cx="2664600" cy="35433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/>
        </p:nvSpPr>
        <p:spPr>
          <a:xfrm>
            <a:off x="375275" y="2500249"/>
            <a:ext cx="2664600" cy="23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3350" lvl="1" marL="27940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pace Grotesk"/>
              <a:buChar char="•"/>
            </a:pPr>
            <a:r>
              <a:rPr i="0" lang="en-US" sz="1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Identificar as escolaridades mais afetadas no desempenho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133350" lvl="1" marL="27940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pace Grotesk"/>
              <a:buChar char="•"/>
            </a:pPr>
            <a:r>
              <a:rPr i="0" lang="en-US" sz="1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Analisar cotidiano que possa afetar os estudos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133350" lvl="1" marL="27940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pace Grotesk"/>
              <a:buChar char="•"/>
            </a:pPr>
            <a:r>
              <a:rPr i="0" lang="en-US" sz="1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Diferença entre gênero nos estudos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/>
          <p:nvPr/>
        </p:nvSpPr>
        <p:spPr>
          <a:xfrm>
            <a:off x="557850" y="1375688"/>
            <a:ext cx="2209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CFE2F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AutoNum type="arabicPeriod"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 principal </a:t>
            </a:r>
            <a:endParaRPr b="1" sz="20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" name="Google Shape;49;p6"/>
          <p:cNvSpPr txBox="1"/>
          <p:nvPr/>
        </p:nvSpPr>
        <p:spPr>
          <a:xfrm>
            <a:off x="3433701" y="2500243"/>
            <a:ext cx="2256300" cy="17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Desenvolvido com Python, Pandas, NumPy, imbalanced-learn, Matplotlib, Seaborn, </a:t>
            </a:r>
            <a:r>
              <a:rPr lang="en-US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</a:t>
            </a:r>
            <a:r>
              <a:rPr lang="en-US" sz="1300" u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ower </a:t>
            </a:r>
            <a:r>
              <a:rPr lang="en-US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</a:t>
            </a:r>
            <a:r>
              <a:rPr lang="en-US" sz="1300" u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</a:t>
            </a:r>
            <a:r>
              <a:rPr i="0" lang="en-US" sz="1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-US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393513" y="1500475"/>
            <a:ext cx="2064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</a:t>
            </a: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Tecnologías</a:t>
            </a: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 utilizadas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6332968" y="2500244"/>
            <a:ext cx="2256300" cy="14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Kaggle: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2F2F2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https://www.kaggle.com/datasets/harshadapatil31/student-performance-and-study-habits-dataset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" name="Google Shape;52;p6"/>
          <p:cNvSpPr txBox="1"/>
          <p:nvPr/>
        </p:nvSpPr>
        <p:spPr>
          <a:xfrm>
            <a:off x="6356793" y="1500470"/>
            <a:ext cx="206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Fonte de dados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285750" y="607225"/>
            <a:ext cx="85725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Propósito e base técnica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os dados contam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85750" y="864394"/>
            <a:ext cx="2143125" cy="878681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428625" y="1007269"/>
            <a:ext cx="18573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2DCC94"/>
                </a:solidFill>
                <a:latin typeface="Space Grotesk"/>
                <a:ea typeface="Space Grotesk"/>
                <a:cs typeface="Space Grotesk"/>
                <a:sym typeface="Space Grotesk"/>
              </a:rPr>
              <a:t>1.000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28625" y="1478756"/>
            <a:ext cx="1857375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AMOSTRAS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285750" y="1957388"/>
            <a:ext cx="2143125" cy="878681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428625" y="2100263"/>
            <a:ext cx="18573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2DCC94"/>
                </a:solidFill>
                <a:latin typeface="Space Grotesk"/>
                <a:ea typeface="Space Grotesk"/>
                <a:cs typeface="Space Grotesk"/>
                <a:sym typeface="Space Grotesk"/>
              </a:rPr>
              <a:t>09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28625" y="2571750"/>
            <a:ext cx="1857375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FEATURES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285750" y="3050381"/>
            <a:ext cx="2143125" cy="878681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428625" y="3193256"/>
            <a:ext cx="1857375" cy="435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2DCC94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428625" y="3664744"/>
            <a:ext cx="1857375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CLASSES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2714625" y="864394"/>
            <a:ext cx="6143625" cy="399335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2928938" y="1078706"/>
            <a:ext cx="5715000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1000"/>
              <a:buFont typeface="Space Grotesk"/>
              <a:buNone/>
            </a:pPr>
            <a:r>
              <a:rPr b="1" i="0" lang="en-US" sz="100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Variáveis de Entrada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057525" y="1403747"/>
            <a:ext cx="39647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Gênero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5968603" y="1403747"/>
            <a:ext cx="1189434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Escolaridade dos Pais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3057525" y="1650206"/>
            <a:ext cx="896541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Horas de Estudo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968603" y="1650206"/>
            <a:ext cx="950119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Acesso à Internet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3057525" y="1896666"/>
            <a:ext cx="1382316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Percentual de Frequência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968603" y="1896666"/>
            <a:ext cx="1518047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Atividades Extracurriculares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3057525" y="2143125"/>
            <a:ext cx="803672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Horas de Sono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968603" y="2143125"/>
            <a:ext cx="1396603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Trabalho de Meio Período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3057525" y="2389584"/>
            <a:ext cx="717947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Nota Anterior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2928938" y="2814638"/>
            <a:ext cx="5715000" cy="10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Fonte: Student Performance &amp; Study Habits Dataset (Kaggle)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Um pipeline ponta a ponta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285750" y="1007269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285750" y="1007269"/>
            <a:ext cx="1600200" cy="14288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428625" y="1150144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28625" y="1502364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Aquisição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428625" y="1890303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Carga do dataset original e inspeção inicial.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2028825" y="1007269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2028825" y="1007269"/>
            <a:ext cx="1600200" cy="14288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2171700" y="1150144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2171700" y="1502364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Tradução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2171700" y="1890303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Renomeação de colunas e valores para PT-BR.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3771900" y="1007269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3771900" y="1007269"/>
            <a:ext cx="1600200" cy="14288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3914775" y="1150144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3914775" y="1502364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Limpeza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3914775" y="1890303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Remoção de duplicados e dados omissos.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5514975" y="1007269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5514975" y="1007269"/>
            <a:ext cx="1600200" cy="14288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5657850" y="1150144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657850" y="1502364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Tratamento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657850" y="1890303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Conversão de categorias para numéricas.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7258050" y="1007269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7258050" y="1007269"/>
            <a:ext cx="1600200" cy="14288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7400925" y="1150144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7400925" y="1502364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Split 70/30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7400925" y="1890303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Divisão estratificada entre treino e teste.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285750" y="2507456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285750" y="2507456"/>
            <a:ext cx="1600200" cy="1428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428625" y="2650331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28625" y="3002552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SMOTE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28625" y="3390491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Balanceamento de classes apenas no treino.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2028825" y="2507456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2028825" y="2507456"/>
            <a:ext cx="1600200" cy="1428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2171700" y="2650331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2171700" y="3002552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Padronização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2171700" y="3390491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StandardScaler para normalizar escalas.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3771900" y="2507456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3771900" y="2507456"/>
            <a:ext cx="1600200" cy="1428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3914775" y="2650331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914775" y="2937532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PCA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3914775" y="3260452"/>
            <a:ext cx="1314450" cy="389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Redução de dimensionalidade (2 a 5 comp).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514975" y="2507456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5514975" y="2507456"/>
            <a:ext cx="1600200" cy="1428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5657850" y="2650331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09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657850" y="3002552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Treinamento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657850" y="3390491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KNN (k=3,5,7) e Random Forest.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258050" y="2507456"/>
            <a:ext cx="1600200" cy="128587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7258050" y="2507456"/>
            <a:ext cx="1600200" cy="1428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7400925" y="2650331"/>
            <a:ext cx="13144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7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400925" y="3002552"/>
            <a:ext cx="131445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Avaliação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7400925" y="3390491"/>
            <a:ext cx="1314450" cy="2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F1-macro e Matriz de Confusão.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6" name="Google Shape;1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2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/>
          <p:nvPr/>
        </p:nvSpPr>
        <p:spPr>
          <a:xfrm>
            <a:off x="285775" y="477044"/>
            <a:ext cx="13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i="0" lang="en-US" sz="16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777250" y="529550"/>
            <a:ext cx="3914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Tradução dos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331072" y="1033775"/>
            <a:ext cx="3544870" cy="3567875"/>
          </a:xfrm>
          <a:custGeom>
            <a:rect b="b" l="l" r="r" t="t"/>
            <a:pathLst>
              <a:path extrusionOk="0" h="6487045" w="5538859">
                <a:moveTo>
                  <a:pt x="0" y="0"/>
                </a:moveTo>
                <a:lnTo>
                  <a:pt x="5538860" y="0"/>
                </a:lnTo>
                <a:lnTo>
                  <a:pt x="5538860" y="6487044"/>
                </a:lnTo>
                <a:lnTo>
                  <a:pt x="0" y="6487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080" t="0"/>
            </a:stretch>
          </a:blipFill>
          <a:ln>
            <a:noFill/>
          </a:ln>
        </p:spPr>
      </p:sp>
      <p:sp>
        <p:nvSpPr>
          <p:cNvPr id="151" name="Google Shape;151;p9"/>
          <p:cNvSpPr/>
          <p:nvPr/>
        </p:nvSpPr>
        <p:spPr>
          <a:xfrm>
            <a:off x="5706110" y="658255"/>
            <a:ext cx="303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180850" y="1162300"/>
            <a:ext cx="4669240" cy="2704852"/>
          </a:xfrm>
          <a:custGeom>
            <a:rect b="b" l="l" r="r" t="t"/>
            <a:pathLst>
              <a:path extrusionOk="0" h="4545969" w="10858697">
                <a:moveTo>
                  <a:pt x="0" y="0"/>
                </a:moveTo>
                <a:lnTo>
                  <a:pt x="10858697" y="0"/>
                </a:lnTo>
                <a:lnTo>
                  <a:pt x="10858697" y="4545969"/>
                </a:lnTo>
                <a:lnTo>
                  <a:pt x="0" y="4545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350" l="0" r="0" t="-136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2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/>
          <p:nvPr/>
        </p:nvSpPr>
        <p:spPr>
          <a:xfrm>
            <a:off x="285775" y="477044"/>
            <a:ext cx="13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lang="en-US" sz="1650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777250" y="529550"/>
            <a:ext cx="3914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Dados binários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201482" y="605750"/>
            <a:ext cx="991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Load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420650" y="980975"/>
            <a:ext cx="4058920" cy="3773336"/>
          </a:xfrm>
          <a:custGeom>
            <a:rect b="b" l="l" r="r" t="t"/>
            <a:pathLst>
              <a:path extrusionOk="0" h="4948637" w="9839805">
                <a:moveTo>
                  <a:pt x="0" y="0"/>
                </a:moveTo>
                <a:lnTo>
                  <a:pt x="9839805" y="0"/>
                </a:lnTo>
                <a:lnTo>
                  <a:pt x="9839805" y="4948637"/>
                </a:lnTo>
                <a:lnTo>
                  <a:pt x="0" y="4948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0"/>
          <p:cNvSpPr/>
          <p:nvPr/>
        </p:nvSpPr>
        <p:spPr>
          <a:xfrm>
            <a:off x="5415274" y="1112275"/>
            <a:ext cx="2335609" cy="3345426"/>
          </a:xfrm>
          <a:custGeom>
            <a:rect b="b" l="l" r="r" t="t"/>
            <a:pathLst>
              <a:path extrusionOk="0" h="5599039" w="3736974">
                <a:moveTo>
                  <a:pt x="0" y="0"/>
                </a:moveTo>
                <a:lnTo>
                  <a:pt x="3736973" y="0"/>
                </a:lnTo>
                <a:lnTo>
                  <a:pt x="3736973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0" name="Google Shape;1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2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/>
          <p:nvPr/>
        </p:nvSpPr>
        <p:spPr>
          <a:xfrm>
            <a:off x="285775" y="477044"/>
            <a:ext cx="13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lang="en-US" sz="1650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777250" y="529550"/>
            <a:ext cx="3914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Tratamento dos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5325450" y="605750"/>
            <a:ext cx="1018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lang="en-US" sz="1650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5706110" y="658255"/>
            <a:ext cx="303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434350" y="1006700"/>
            <a:ext cx="3388690" cy="3784975"/>
          </a:xfrm>
          <a:custGeom>
            <a:rect b="b" l="l" r="r" t="t"/>
            <a:pathLst>
              <a:path extrusionOk="0" h="6154431" w="6454648">
                <a:moveTo>
                  <a:pt x="0" y="0"/>
                </a:moveTo>
                <a:lnTo>
                  <a:pt x="6454648" y="0"/>
                </a:lnTo>
                <a:lnTo>
                  <a:pt x="6454648" y="6154431"/>
                </a:lnTo>
                <a:lnTo>
                  <a:pt x="0" y="6154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1"/>
          <p:cNvSpPr/>
          <p:nvPr/>
        </p:nvSpPr>
        <p:spPr>
          <a:xfrm>
            <a:off x="4231275" y="1025450"/>
            <a:ext cx="4334433" cy="3689495"/>
          </a:xfrm>
          <a:custGeom>
            <a:rect b="b" l="l" r="r" t="t"/>
            <a:pathLst>
              <a:path extrusionOk="0" h="6306829" w="7989739">
                <a:moveTo>
                  <a:pt x="0" y="0"/>
                </a:moveTo>
                <a:lnTo>
                  <a:pt x="7989739" y="0"/>
                </a:lnTo>
                <a:lnTo>
                  <a:pt x="7989739" y="6306828"/>
                </a:lnTo>
                <a:lnTo>
                  <a:pt x="0" y="63068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3" name="Google Shape;1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23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2"/>
          <p:cNvSpPr/>
          <p:nvPr/>
        </p:nvSpPr>
        <p:spPr>
          <a:xfrm>
            <a:off x="285775" y="477044"/>
            <a:ext cx="13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Space Grotesk"/>
              <a:buNone/>
            </a:pPr>
            <a:r>
              <a:rPr b="1" lang="en-US" sz="1650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777250" y="529550"/>
            <a:ext cx="3914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Aprendizado de máquina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5533610" y="529555"/>
            <a:ext cx="3032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6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358900" y="1025450"/>
            <a:ext cx="3420273" cy="3917493"/>
          </a:xfrm>
          <a:custGeom>
            <a:rect b="b" l="l" r="r" t="t"/>
            <a:pathLst>
              <a:path extrusionOk="0" h="6073633" w="6026913">
                <a:moveTo>
                  <a:pt x="0" y="0"/>
                </a:moveTo>
                <a:lnTo>
                  <a:pt x="6026913" y="0"/>
                </a:lnTo>
                <a:lnTo>
                  <a:pt x="6026913" y="6073632"/>
                </a:lnTo>
                <a:lnTo>
                  <a:pt x="0" y="6073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2"/>
          <p:cNvSpPr/>
          <p:nvPr/>
        </p:nvSpPr>
        <p:spPr>
          <a:xfrm>
            <a:off x="4487825" y="1025450"/>
            <a:ext cx="4250368" cy="2361024"/>
          </a:xfrm>
          <a:custGeom>
            <a:rect b="b" l="l" r="r" t="t"/>
            <a:pathLst>
              <a:path extrusionOk="0" h="3446750" w="6589718">
                <a:moveTo>
                  <a:pt x="0" y="0"/>
                </a:moveTo>
                <a:lnTo>
                  <a:pt x="6589718" y="0"/>
                </a:lnTo>
                <a:lnTo>
                  <a:pt x="6589718" y="3446749"/>
                </a:lnTo>
                <a:lnTo>
                  <a:pt x="0" y="3446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2"/>
          <p:cNvSpPr/>
          <p:nvPr/>
        </p:nvSpPr>
        <p:spPr>
          <a:xfrm>
            <a:off x="5913125" y="1960876"/>
            <a:ext cx="2580410" cy="2778388"/>
          </a:xfrm>
          <a:custGeom>
            <a:rect b="b" l="l" r="r" t="t"/>
            <a:pathLst>
              <a:path extrusionOk="0" h="5169094" w="3954652">
                <a:moveTo>
                  <a:pt x="0" y="0"/>
                </a:moveTo>
                <a:lnTo>
                  <a:pt x="3954652" y="0"/>
                </a:lnTo>
                <a:lnTo>
                  <a:pt x="3954652" y="5169094"/>
                </a:lnTo>
                <a:lnTo>
                  <a:pt x="0" y="5169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644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6" name="Google Shape;1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84825"/>
            <a:ext cx="9143999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3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944670" y="421819"/>
            <a:ext cx="7001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99" name="Google Shape;199;p13"/>
          <p:cNvSpPr/>
          <p:nvPr/>
        </p:nvSpPr>
        <p:spPr>
          <a:xfrm>
            <a:off x="319725" y="1112175"/>
            <a:ext cx="3363158" cy="1733638"/>
          </a:xfrm>
          <a:custGeom>
            <a:rect b="b" l="l" r="r" t="t"/>
            <a:pathLst>
              <a:path extrusionOk="0" h="3467275" w="6170932">
                <a:moveTo>
                  <a:pt x="0" y="0"/>
                </a:moveTo>
                <a:lnTo>
                  <a:pt x="6170932" y="0"/>
                </a:lnTo>
                <a:lnTo>
                  <a:pt x="6170932" y="3467275"/>
                </a:lnTo>
                <a:lnTo>
                  <a:pt x="0" y="3467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5370" l="-5790" r="-6709" t="0"/>
            </a:stretch>
          </a:blipFill>
          <a:ln>
            <a:noFill/>
          </a:ln>
        </p:spPr>
      </p:sp>
      <p:sp>
        <p:nvSpPr>
          <p:cNvPr id="200" name="Google Shape;200;p13"/>
          <p:cNvSpPr/>
          <p:nvPr/>
        </p:nvSpPr>
        <p:spPr>
          <a:xfrm>
            <a:off x="318635" y="2910539"/>
            <a:ext cx="3359363" cy="1959494"/>
          </a:xfrm>
          <a:custGeom>
            <a:rect b="b" l="l" r="r" t="t"/>
            <a:pathLst>
              <a:path extrusionOk="0" h="3918988" w="6718725">
                <a:moveTo>
                  <a:pt x="0" y="0"/>
                </a:moveTo>
                <a:lnTo>
                  <a:pt x="6718725" y="0"/>
                </a:lnTo>
                <a:lnTo>
                  <a:pt x="6718725" y="3918987"/>
                </a:lnTo>
                <a:lnTo>
                  <a:pt x="0" y="3918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080" l="-6270" r="-7360" t="-3800"/>
            </a:stretch>
          </a:blipFill>
          <a:ln>
            <a:noFill/>
          </a:ln>
        </p:spPr>
      </p:sp>
      <p:grpSp>
        <p:nvGrpSpPr>
          <p:cNvPr id="201" name="Google Shape;201;p13"/>
          <p:cNvGrpSpPr/>
          <p:nvPr/>
        </p:nvGrpSpPr>
        <p:grpSpPr>
          <a:xfrm>
            <a:off x="6560383" y="1369542"/>
            <a:ext cx="1880935" cy="1202320"/>
            <a:chOff x="0" y="-47625"/>
            <a:chExt cx="990748" cy="633300"/>
          </a:xfrm>
        </p:grpSpPr>
        <p:sp>
          <p:nvSpPr>
            <p:cNvPr id="202" name="Google Shape;202;p13"/>
            <p:cNvSpPr/>
            <p:nvPr/>
          </p:nvSpPr>
          <p:spPr>
            <a:xfrm>
              <a:off x="0" y="0"/>
              <a:ext cx="990748" cy="585635"/>
            </a:xfrm>
            <a:custGeom>
              <a:rect b="b" l="l" r="r" t="t"/>
              <a:pathLst>
                <a:path extrusionOk="0" h="585635" w="990748">
                  <a:moveTo>
                    <a:pt x="0" y="0"/>
                  </a:moveTo>
                  <a:lnTo>
                    <a:pt x="990748" y="0"/>
                  </a:lnTo>
                  <a:lnTo>
                    <a:pt x="990748" y="585635"/>
                  </a:lnTo>
                  <a:lnTo>
                    <a:pt x="0" y="585635"/>
                  </a:lnTo>
                  <a:close/>
                </a:path>
              </a:pathLst>
            </a:custGeom>
            <a:solidFill>
              <a:srgbClr val="C2E1FE">
                <a:alpha val="63920"/>
              </a:srgbClr>
            </a:solidFill>
            <a:ln>
              <a:noFill/>
            </a:ln>
          </p:spPr>
        </p:sp>
        <p:sp>
          <p:nvSpPr>
            <p:cNvPr id="203" name="Google Shape;203;p13"/>
            <p:cNvSpPr txBox="1"/>
            <p:nvPr/>
          </p:nvSpPr>
          <p:spPr>
            <a:xfrm>
              <a:off x="0" y="-47625"/>
              <a:ext cx="990600" cy="6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3"/>
          <p:cNvGrpSpPr/>
          <p:nvPr/>
        </p:nvGrpSpPr>
        <p:grpSpPr>
          <a:xfrm>
            <a:off x="4383220" y="1369542"/>
            <a:ext cx="1904114" cy="1202320"/>
            <a:chOff x="0" y="-47625"/>
            <a:chExt cx="1002957" cy="633300"/>
          </a:xfrm>
        </p:grpSpPr>
        <p:sp>
          <p:nvSpPr>
            <p:cNvPr id="205" name="Google Shape;205;p13"/>
            <p:cNvSpPr/>
            <p:nvPr/>
          </p:nvSpPr>
          <p:spPr>
            <a:xfrm>
              <a:off x="0" y="0"/>
              <a:ext cx="1002957" cy="585635"/>
            </a:xfrm>
            <a:custGeom>
              <a:rect b="b" l="l" r="r" t="t"/>
              <a:pathLst>
                <a:path extrusionOk="0" h="585635" w="1002957">
                  <a:moveTo>
                    <a:pt x="0" y="0"/>
                  </a:moveTo>
                  <a:lnTo>
                    <a:pt x="1002957" y="0"/>
                  </a:lnTo>
                  <a:lnTo>
                    <a:pt x="1002957" y="585635"/>
                  </a:lnTo>
                  <a:lnTo>
                    <a:pt x="0" y="585635"/>
                  </a:lnTo>
                  <a:close/>
                </a:path>
              </a:pathLst>
            </a:custGeom>
            <a:solidFill>
              <a:srgbClr val="C2E1FE">
                <a:alpha val="63920"/>
              </a:srgbClr>
            </a:solidFill>
            <a:ln>
              <a:noFill/>
            </a:ln>
          </p:spPr>
        </p:sp>
        <p:sp>
          <p:nvSpPr>
            <p:cNvPr id="206" name="Google Shape;206;p13"/>
            <p:cNvSpPr txBox="1"/>
            <p:nvPr/>
          </p:nvSpPr>
          <p:spPr>
            <a:xfrm>
              <a:off x="0" y="-47625"/>
              <a:ext cx="1002900" cy="6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3"/>
          <p:cNvGrpSpPr/>
          <p:nvPr/>
        </p:nvGrpSpPr>
        <p:grpSpPr>
          <a:xfrm>
            <a:off x="4383220" y="3419286"/>
            <a:ext cx="1904114" cy="1202320"/>
            <a:chOff x="0" y="-47625"/>
            <a:chExt cx="1002957" cy="633300"/>
          </a:xfrm>
        </p:grpSpPr>
        <p:sp>
          <p:nvSpPr>
            <p:cNvPr id="208" name="Google Shape;208;p13"/>
            <p:cNvSpPr/>
            <p:nvPr/>
          </p:nvSpPr>
          <p:spPr>
            <a:xfrm>
              <a:off x="0" y="0"/>
              <a:ext cx="1002957" cy="585635"/>
            </a:xfrm>
            <a:custGeom>
              <a:rect b="b" l="l" r="r" t="t"/>
              <a:pathLst>
                <a:path extrusionOk="0" h="585635" w="1002957">
                  <a:moveTo>
                    <a:pt x="0" y="0"/>
                  </a:moveTo>
                  <a:lnTo>
                    <a:pt x="1002957" y="0"/>
                  </a:lnTo>
                  <a:lnTo>
                    <a:pt x="1002957" y="585635"/>
                  </a:lnTo>
                  <a:lnTo>
                    <a:pt x="0" y="585635"/>
                  </a:lnTo>
                  <a:close/>
                </a:path>
              </a:pathLst>
            </a:custGeom>
            <a:solidFill>
              <a:srgbClr val="7F9EC8">
                <a:alpha val="52940"/>
              </a:srgbClr>
            </a:solidFill>
            <a:ln>
              <a:noFill/>
            </a:ln>
          </p:spPr>
        </p:sp>
        <p:sp>
          <p:nvSpPr>
            <p:cNvPr id="209" name="Google Shape;209;p13"/>
            <p:cNvSpPr txBox="1"/>
            <p:nvPr/>
          </p:nvSpPr>
          <p:spPr>
            <a:xfrm>
              <a:off x="0" y="-47625"/>
              <a:ext cx="1002900" cy="6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3"/>
          <p:cNvGrpSpPr/>
          <p:nvPr/>
        </p:nvGrpSpPr>
        <p:grpSpPr>
          <a:xfrm>
            <a:off x="6560383" y="3426942"/>
            <a:ext cx="1902867" cy="1202320"/>
            <a:chOff x="0" y="-47625"/>
            <a:chExt cx="1002300" cy="633300"/>
          </a:xfrm>
        </p:grpSpPr>
        <p:sp>
          <p:nvSpPr>
            <p:cNvPr id="211" name="Google Shape;211;p13"/>
            <p:cNvSpPr/>
            <p:nvPr/>
          </p:nvSpPr>
          <p:spPr>
            <a:xfrm>
              <a:off x="0" y="0"/>
              <a:ext cx="1002289" cy="585635"/>
            </a:xfrm>
            <a:custGeom>
              <a:rect b="b" l="l" r="r" t="t"/>
              <a:pathLst>
                <a:path extrusionOk="0" h="585635" w="1002289">
                  <a:moveTo>
                    <a:pt x="0" y="0"/>
                  </a:moveTo>
                  <a:lnTo>
                    <a:pt x="1002289" y="0"/>
                  </a:lnTo>
                  <a:lnTo>
                    <a:pt x="1002289" y="585635"/>
                  </a:lnTo>
                  <a:lnTo>
                    <a:pt x="0" y="585635"/>
                  </a:lnTo>
                  <a:close/>
                </a:path>
              </a:pathLst>
            </a:custGeom>
            <a:solidFill>
              <a:srgbClr val="7F9EC8">
                <a:alpha val="52940"/>
              </a:srgbClr>
            </a:solidFill>
            <a:ln>
              <a:noFill/>
            </a:ln>
          </p:spPr>
        </p:sp>
        <p:sp>
          <p:nvSpPr>
            <p:cNvPr id="212" name="Google Shape;212;p13"/>
            <p:cNvSpPr txBox="1"/>
            <p:nvPr/>
          </p:nvSpPr>
          <p:spPr>
            <a:xfrm>
              <a:off x="0" y="-47625"/>
              <a:ext cx="1002300" cy="6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13"/>
          <p:cNvSpPr txBox="1"/>
          <p:nvPr/>
        </p:nvSpPr>
        <p:spPr>
          <a:xfrm>
            <a:off x="4419169" y="3694663"/>
            <a:ext cx="183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Há </a:t>
            </a:r>
            <a:r>
              <a:rPr b="1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17 mulheres</a:t>
            </a: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 a mais trabalhando em meio período do que homens.</a:t>
            </a:r>
            <a:endParaRPr sz="700"/>
          </a:p>
        </p:txBody>
      </p:sp>
      <p:sp>
        <p:nvSpPr>
          <p:cNvPr id="214" name="Google Shape;214;p13"/>
          <p:cNvSpPr txBox="1"/>
          <p:nvPr/>
        </p:nvSpPr>
        <p:spPr>
          <a:xfrm>
            <a:off x="6578291" y="3652549"/>
            <a:ext cx="1866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Há apenas </a:t>
            </a:r>
            <a:r>
              <a:rPr b="1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5 homens</a:t>
            </a: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 a mais que mulheres entre os estudantes que não exercem atividade de meio período</a:t>
            </a:r>
            <a:endParaRPr sz="700"/>
          </a:p>
        </p:txBody>
      </p:sp>
      <p:sp>
        <p:nvSpPr>
          <p:cNvPr id="215" name="Google Shape;215;p13"/>
          <p:cNvSpPr txBox="1"/>
          <p:nvPr/>
        </p:nvSpPr>
        <p:spPr>
          <a:xfrm>
            <a:off x="6560383" y="1500929"/>
            <a:ext cx="1845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Diferença percentual</a:t>
            </a:r>
            <a:endParaRPr sz="700"/>
          </a:p>
          <a:p>
            <a:pPr indent="-101600" lvl="1" marL="2159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C29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Masculino: 50,29%</a:t>
            </a:r>
            <a:endParaRPr sz="700"/>
          </a:p>
          <a:p>
            <a:pPr indent="-101600" lvl="1" marL="2159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C29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Feminino: 49,71%</a:t>
            </a:r>
            <a:endParaRPr sz="7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Diferença de apenas</a:t>
            </a:r>
            <a:r>
              <a:rPr b="0" i="0" lang="en-US" sz="1000" u="sng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 0,58 ponto percentual</a:t>
            </a: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7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F1C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4419169" y="1500929"/>
            <a:ext cx="18213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Diferença absoluta</a:t>
            </a:r>
            <a:endParaRPr sz="700"/>
          </a:p>
          <a:p>
            <a:pPr indent="-101600" lvl="1" marL="2159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C29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Masculino: 259 estudantes</a:t>
            </a:r>
            <a:endParaRPr sz="700"/>
          </a:p>
          <a:p>
            <a:pPr indent="-101600" lvl="1" marL="2159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C29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Feminino: 256 estudantes</a:t>
            </a:r>
            <a:endParaRPr sz="7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Diferença de apenas </a:t>
            </a:r>
            <a:r>
              <a:rPr b="0" i="0" lang="en-US" sz="1000" u="sng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3 estudantes</a:t>
            </a:r>
            <a:r>
              <a:rPr b="0" i="0" lang="en-US" sz="1000" u="none" cap="none" strike="noStrike">
                <a:solidFill>
                  <a:srgbClr val="0F1C2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700"/>
          </a:p>
          <a:p>
            <a:pPr indent="0" lvl="0" marL="0" marR="0" rtl="0" algn="ctr">
              <a:lnSpc>
                <a:spcPct val="14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F1C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3797624" y="1979003"/>
            <a:ext cx="353006" cy="202176"/>
          </a:xfrm>
          <a:custGeom>
            <a:rect b="b" l="l" r="r" t="t"/>
            <a:pathLst>
              <a:path extrusionOk="0" h="404352" w="706012">
                <a:moveTo>
                  <a:pt x="0" y="0"/>
                </a:moveTo>
                <a:lnTo>
                  <a:pt x="706012" y="0"/>
                </a:lnTo>
                <a:lnTo>
                  <a:pt x="706012" y="404353"/>
                </a:lnTo>
                <a:lnTo>
                  <a:pt x="0" y="404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3"/>
          <p:cNvSpPr/>
          <p:nvPr/>
        </p:nvSpPr>
        <p:spPr>
          <a:xfrm>
            <a:off x="3797624" y="3972166"/>
            <a:ext cx="353006" cy="202176"/>
          </a:xfrm>
          <a:custGeom>
            <a:rect b="b" l="l" r="r" t="t"/>
            <a:pathLst>
              <a:path extrusionOk="0" h="404352" w="706012">
                <a:moveTo>
                  <a:pt x="0" y="0"/>
                </a:moveTo>
                <a:lnTo>
                  <a:pt x="706012" y="0"/>
                </a:lnTo>
                <a:lnTo>
                  <a:pt x="706012" y="404352"/>
                </a:lnTo>
                <a:lnTo>
                  <a:pt x="0" y="40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3"/>
          <p:cNvSpPr/>
          <p:nvPr/>
        </p:nvSpPr>
        <p:spPr>
          <a:xfrm>
            <a:off x="318625" y="529550"/>
            <a:ext cx="814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lang="en-US" sz="1700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Comparação por gênero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5" name="Google Shape;2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4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Equilibrar para aprender melhor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285750" y="864394"/>
            <a:ext cx="4179094" cy="349686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007269"/>
            <a:ext cx="3893344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4"/>
          <p:cNvSpPr/>
          <p:nvPr/>
        </p:nvSpPr>
        <p:spPr>
          <a:xfrm>
            <a:off x="1610916" y="4075509"/>
            <a:ext cx="15287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Space Grotesk"/>
              <a:buNone/>
            </a:pPr>
            <a:r>
              <a:rPr b="1" i="0" lang="en-US" sz="8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ORIGINAL (DESBALANCEADO)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4679156" y="864394"/>
            <a:ext cx="4179094" cy="349686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2031" y="1007269"/>
            <a:ext cx="3893344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4"/>
          <p:cNvSpPr/>
          <p:nvPr/>
        </p:nvSpPr>
        <p:spPr>
          <a:xfrm>
            <a:off x="5890022" y="4075509"/>
            <a:ext cx="17573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Space Grotesk"/>
              <a:buNone/>
            </a:pPr>
            <a:r>
              <a:rPr b="1" i="0" lang="en-US" sz="85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SMOTE (EQUALIZADO NO TREINO)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285750" y="4504134"/>
            <a:ext cx="8572500" cy="35361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285750" y="4504134"/>
            <a:ext cx="21431" cy="353616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285750" y="4504134"/>
            <a:ext cx="8572500" cy="353616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O SMOTE permite que o modelo aprenda as características de todas as notas (A-F) igualmente, evitando o viés em favor das classes majoritárias.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50">
                <a:solidFill>
                  <a:srgbClr val="A0AABF"/>
                </a:solidFill>
              </a:rPr>
              <a:t>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2" name="Google Shape;2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5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Reduzir dimensão sem perder o sinal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285750" y="864394"/>
            <a:ext cx="5014913" cy="3993356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146572"/>
            <a:ext cx="4729163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5"/>
          <p:cNvSpPr/>
          <p:nvPr/>
        </p:nvSpPr>
        <p:spPr>
          <a:xfrm>
            <a:off x="5514975" y="864394"/>
            <a:ext cx="3343275" cy="2280865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5693569" y="1042988"/>
            <a:ext cx="2986088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1050"/>
              <a:buFont typeface="Space Grotesk"/>
              <a:buNone/>
            </a:pPr>
            <a:r>
              <a:rPr b="1" i="0" lang="en-US" sz="10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Variância Explicada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5693569" y="1332309"/>
            <a:ext cx="2986088" cy="54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O PCA foi testado com diferentes números de componentes para otimizar o compromisso entre compressão e informação.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5693569" y="2023690"/>
            <a:ext cx="932259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02 Componentes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8247459" y="2023690"/>
            <a:ext cx="432197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31,34%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5693569" y="2277294"/>
            <a:ext cx="932259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03 Componentes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8222456" y="2277294"/>
            <a:ext cx="457200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43,09%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5693569" y="2530897"/>
            <a:ext cx="935831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04 Componentes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8233172" y="2530897"/>
            <a:ext cx="446484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54,65%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5693569" y="2784500"/>
            <a:ext cx="9286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05 Componentes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8218884" y="2784500"/>
            <a:ext cx="460772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64,94%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5514975" y="3288134"/>
            <a:ext cx="3343275" cy="101218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5693569" y="3466728"/>
            <a:ext cx="2986088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1050"/>
              <a:buFont typeface="Space Grotesk"/>
              <a:buNone/>
            </a:pPr>
            <a:r>
              <a:rPr b="1" i="0" lang="en-US" sz="10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Conclusão PCA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5693569" y="3756050"/>
            <a:ext cx="2986088" cy="3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4 componentes foram suficientes para capturar a maior parte da tendência central sem ruído excessivo.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A0AABF"/>
                </a:solidFill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6" name="Google Shape;2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6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16 combinações, uma escolha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285750" y="864394"/>
            <a:ext cx="8572500" cy="3729038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428625" y="1078706"/>
            <a:ext cx="812825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PCA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1241450" y="1078706"/>
            <a:ext cx="2071688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CLASSIFICADOR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3313137" y="1078706"/>
            <a:ext cx="1395487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ACURÁCIA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4708624" y="1078706"/>
            <a:ext cx="1366689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PRECISÃO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6075313" y="1078706"/>
            <a:ext cx="1215665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RECALL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7290978" y="1078706"/>
            <a:ext cx="1424397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00"/>
              <a:buFont typeface="Space Grotesk"/>
              <a:buNone/>
            </a:pPr>
            <a:r>
              <a:rPr b="1" i="0" lang="en-US" sz="700" u="none" cap="none" strike="noStrike">
                <a:solidFill>
                  <a:srgbClr val="A0AABF"/>
                </a:solidFill>
                <a:latin typeface="Space Grotesk"/>
                <a:ea typeface="Space Grotesk"/>
                <a:cs typeface="Space Grotesk"/>
                <a:sym typeface="Space Grotesk"/>
              </a:rPr>
              <a:t>F1-MACRO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428625" y="1428750"/>
            <a:ext cx="8286750" cy="364331"/>
          </a:xfrm>
          <a:prstGeom prst="rect">
            <a:avLst/>
          </a:prstGeom>
          <a:solidFill>
            <a:srgbClr val="2DCC94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"/>
          <p:cNvSpPr/>
          <p:nvPr/>
        </p:nvSpPr>
        <p:spPr>
          <a:xfrm>
            <a:off x="428625" y="1428750"/>
            <a:ext cx="812825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1241450" y="1428750"/>
            <a:ext cx="2071688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3313137" y="1428750"/>
            <a:ext cx="1395487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51,00%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4708624" y="1428750"/>
            <a:ext cx="1366689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0,4537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6075313" y="1428750"/>
            <a:ext cx="1215665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0,5125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7290978" y="1428750"/>
            <a:ext cx="1424397" cy="36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CC94"/>
                </a:solidFill>
                <a:latin typeface="Inter"/>
                <a:ea typeface="Inter"/>
                <a:cs typeface="Inter"/>
                <a:sym typeface="Inter"/>
              </a:rPr>
              <a:t>0,4736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428625" y="1793081"/>
            <a:ext cx="8128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1241450" y="1793081"/>
            <a:ext cx="2071688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3313137" y="1793081"/>
            <a:ext cx="139548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52,67%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4708624" y="1793081"/>
            <a:ext cx="1366689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0,4586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6075313" y="1793081"/>
            <a:ext cx="121566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0,4717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7290978" y="1793081"/>
            <a:ext cx="142439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0,4635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428625" y="2153841"/>
            <a:ext cx="8128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1241450" y="2153841"/>
            <a:ext cx="2071688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KNN (k=7)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3313137" y="2153841"/>
            <a:ext cx="139548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50,33%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4708624" y="2153841"/>
            <a:ext cx="1366689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0,4381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6075313" y="2153841"/>
            <a:ext cx="121566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0,4872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7290978" y="2153841"/>
            <a:ext cx="142439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0,4490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428625" y="2514600"/>
            <a:ext cx="8128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1241450" y="2514600"/>
            <a:ext cx="2071688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3313137" y="2514600"/>
            <a:ext cx="139548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46,33%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4708624" y="2514600"/>
            <a:ext cx="1366689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0,4053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6075313" y="2514600"/>
            <a:ext cx="121566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0,4705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7290978" y="2514600"/>
            <a:ext cx="142439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0,4251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428625" y="2875359"/>
            <a:ext cx="8128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1241450" y="2875359"/>
            <a:ext cx="2071688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KNN (k=5)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3313137" y="2875359"/>
            <a:ext cx="139548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47,00%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4708624" y="2875359"/>
            <a:ext cx="1366689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0,3985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6075313" y="2875359"/>
            <a:ext cx="1215665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0,4540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7290978" y="2875359"/>
            <a:ext cx="1424397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0,4109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285750" y="4736306"/>
            <a:ext cx="857250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*Modelos ordenados pelo F1-Macro, métrica escolhida devido ao desbalanceamento das classes.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A0AABF"/>
                </a:solidFill>
              </a:rPr>
              <a:t>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3" name="Google Shape;3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/>
          <p:nvPr/>
        </p:nvSpPr>
        <p:spPr>
          <a:xfrm>
            <a:off x="200025" y="257175"/>
            <a:ext cx="8743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400"/>
              <a:buFont typeface="Space Grotesk"/>
              <a:buNone/>
            </a:pPr>
            <a:r>
              <a:rPr b="1" i="0" lang="en-US" sz="14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Random Forest leva vantagem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200025" y="557213"/>
            <a:ext cx="8743950" cy="257175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9356" y="671513"/>
            <a:ext cx="3905231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7"/>
          <p:cNvSpPr/>
          <p:nvPr/>
        </p:nvSpPr>
        <p:spPr>
          <a:xfrm>
            <a:off x="200025" y="3257550"/>
            <a:ext cx="4307681" cy="490017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200025" y="3257550"/>
            <a:ext cx="21431" cy="490017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300038" y="3357563"/>
            <a:ext cx="4107656" cy="289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r>
              <a:rPr b="0" i="0" lang="en-US" sz="7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 superou o KNN em quase todos os cenários de PCA, demonstrando maior robustez para lidar com a complexidade das 5 classes.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4636294" y="3257550"/>
            <a:ext cx="4307681" cy="490017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4636294" y="3257550"/>
            <a:ext cx="21431" cy="490017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4736306" y="3357563"/>
            <a:ext cx="4107656" cy="289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Apesar da superioridade, o desempenho geral próximo a 50% revela que a classificação de notas finas (A, B, C, D, F) é altamente desafiadora.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8832521" y="4814888"/>
            <a:ext cx="111454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A0AABF"/>
                </a:solidFill>
              </a:rPr>
              <a:t>12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9" name="Google Shape;3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8"/>
          <p:cNvSpPr/>
          <p:nvPr/>
        </p:nvSpPr>
        <p:spPr>
          <a:xfrm>
            <a:off x="285750" y="285750"/>
            <a:ext cx="85725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1600"/>
              <a:buFont typeface="Space Grotesk"/>
              <a:buNone/>
            </a:pPr>
            <a:r>
              <a:rPr b="1" i="0" lang="en-US" sz="1600" u="none" cap="none" strike="noStrike">
                <a:solidFill>
                  <a:srgbClr val="FDFBF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o melhor modelo aprendeu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285750" y="792956"/>
            <a:ext cx="3799136" cy="4064794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935831"/>
            <a:ext cx="3513386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8"/>
          <p:cNvSpPr/>
          <p:nvPr/>
        </p:nvSpPr>
        <p:spPr>
          <a:xfrm>
            <a:off x="1215554" y="4436269"/>
            <a:ext cx="1939528" cy="10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Matriz de Confusão: Random Forest com PCA 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4299198" y="792956"/>
            <a:ext cx="2208088" cy="8001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4299198" y="1564481"/>
            <a:ext cx="2208088" cy="28575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4442073" y="935831"/>
            <a:ext cx="192233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1900"/>
              <a:buFont typeface="Space Grotesk"/>
              <a:buNone/>
            </a:pPr>
            <a:r>
              <a:rPr b="1" i="0" lang="en-US" sz="1900" u="none" cap="none" strike="noStrike">
                <a:solidFill>
                  <a:srgbClr val="2DCC94"/>
                </a:solidFill>
                <a:latin typeface="Space Grotesk"/>
                <a:ea typeface="Space Grotesk"/>
                <a:cs typeface="Space Grotesk"/>
                <a:sym typeface="Space Grotesk"/>
              </a:rPr>
              <a:t>51,0%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4442073" y="1300163"/>
            <a:ext cx="1922338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ACURÁCIA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6650162" y="792956"/>
            <a:ext cx="2208088" cy="8001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6650162" y="1564481"/>
            <a:ext cx="2208088" cy="28575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8"/>
          <p:cNvSpPr/>
          <p:nvPr/>
        </p:nvSpPr>
        <p:spPr>
          <a:xfrm>
            <a:off x="6793037" y="935831"/>
            <a:ext cx="192233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CC94"/>
              </a:buClr>
              <a:buSzPts val="1900"/>
              <a:buFont typeface="Space Grotesk"/>
              <a:buNone/>
            </a:pPr>
            <a:r>
              <a:rPr b="1" i="0" lang="en-US" sz="1900" u="none" cap="none" strike="noStrike">
                <a:solidFill>
                  <a:srgbClr val="2DCC94"/>
                </a:solidFill>
                <a:latin typeface="Space Grotesk"/>
                <a:ea typeface="Space Grotesk"/>
                <a:cs typeface="Space Grotesk"/>
                <a:sym typeface="Space Grotesk"/>
              </a:rPr>
              <a:t>0,4736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793037" y="1300163"/>
            <a:ext cx="1922338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F1-MACRO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299198" y="1707356"/>
            <a:ext cx="4559052" cy="3150394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/>
          <p:nvPr/>
        </p:nvSpPr>
        <p:spPr>
          <a:xfrm>
            <a:off x="4477792" y="1885950"/>
            <a:ext cx="4201864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950"/>
              <a:buFont typeface="Space Grotesk"/>
              <a:buNone/>
            </a:pPr>
            <a:r>
              <a:rPr b="1" i="0" lang="en-US" sz="95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Previsão para Novo Estudante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4477792" y="2175272"/>
            <a:ext cx="407194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Entrada: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4884986" y="2175272"/>
            <a:ext cx="3561159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Masculino, 4.5h estudo, 90% freq, 7h sono, Pais Doutorado, Internet: Sim,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4477792" y="2335281"/>
            <a:ext cx="2678906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DFBF7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FDFBF7"/>
                </a:solidFill>
                <a:latin typeface="Inter"/>
                <a:ea typeface="Inter"/>
                <a:cs typeface="Inter"/>
                <a:sym typeface="Inter"/>
              </a:rPr>
              <a:t>Extracurriculares: Sim, Trabalho: Não, Nota Anterior: 20.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477792" y="2584586"/>
            <a:ext cx="1564481" cy="274309"/>
          </a:xfrm>
          <a:prstGeom prst="rect">
            <a:avLst/>
          </a:prstGeom>
          <a:solidFill>
            <a:srgbClr val="2DC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4477792" y="2584586"/>
            <a:ext cx="1564481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A1128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0A1128"/>
                </a:solidFill>
                <a:latin typeface="Inter"/>
                <a:ea typeface="Inter"/>
                <a:cs typeface="Inter"/>
                <a:sym typeface="Inter"/>
              </a:rPr>
              <a:t>Classificação do Modelo: 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4477792" y="2966052"/>
            <a:ext cx="4201864" cy="297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O modelo tende a confundir classes adjacentes (como B e C), indicando sobreposição de comportamentos entre diferentes níveis de notas.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A0AABF"/>
                </a:solidFill>
              </a:rPr>
              <a:t>13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6" name="Google Shape;3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9"/>
          <p:cNvSpPr/>
          <p:nvPr/>
        </p:nvSpPr>
        <p:spPr>
          <a:xfrm>
            <a:off x="3430786" y="4530533"/>
            <a:ext cx="2282428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NAPOLEÃO • TAINARA • JÚLIA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8738202" y="4722019"/>
            <a:ext cx="1200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750">
                <a:solidFill>
                  <a:srgbClr val="A0AABF"/>
                </a:solidFill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557298" y="633231"/>
            <a:ext cx="4559100" cy="3150300"/>
          </a:xfrm>
          <a:prstGeom prst="rect">
            <a:avLst/>
          </a:prstGeom>
          <a:solidFill>
            <a:srgbClr val="172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9"/>
          <p:cNvSpPr/>
          <p:nvPr/>
        </p:nvSpPr>
        <p:spPr>
          <a:xfrm>
            <a:off x="893000" y="1126125"/>
            <a:ext cx="35613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</a:rPr>
              <a:t>Repositório: </a:t>
            </a:r>
            <a:r>
              <a:rPr lang="en-US" sz="10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https://github.com/NapoleaoJunior/UC10_PF_MACHINE_LEARNING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</a:rPr>
              <a:t>Relatório: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u="sng">
                <a:solidFill>
                  <a:schemeClr val="hlink"/>
                </a:solidFill>
                <a:hlinkClick r:id="rId5"/>
              </a:rPr>
              <a:t>https://docs.google.com/document/d/1Fn1f0STOWUUf6I2oSITAxSvL6rS_z-3B/edit?usp=sharing&amp;ouid=107562332198605647163&amp;rtpof=true&amp;sd=true </a:t>
            </a:r>
            <a:endParaRPr sz="1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</a:rPr>
              <a:t>Kaggle: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u="sng">
                <a:solidFill>
                  <a:schemeClr val="hlink"/>
                </a:solidFill>
                <a:hlinkClick r:id="rId6"/>
              </a:rPr>
              <a:t>https://www.kaggle.com/datasets/harshadapatil31/student-performance-and-study-habits-dataset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6" name="Google Shape;3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7" name="Google Shape;3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1131" y="403424"/>
            <a:ext cx="3214688" cy="3214687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0"/>
          <p:cNvSpPr/>
          <p:nvPr/>
        </p:nvSpPr>
        <p:spPr>
          <a:xfrm>
            <a:off x="2993231" y="3884749"/>
            <a:ext cx="315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6F61"/>
              </a:buClr>
              <a:buSzPts val="3300"/>
              <a:buFont typeface="Space Grotesk"/>
              <a:buNone/>
            </a:pPr>
            <a:r>
              <a:rPr b="1" i="0" lang="en-US" sz="3300" u="none" cap="none" strike="noStrike">
                <a:solidFill>
                  <a:srgbClr val="FF6F61"/>
                </a:solidFill>
                <a:latin typeface="Space Grotesk"/>
                <a:ea typeface="Space Grotesk"/>
                <a:cs typeface="Space Grotesk"/>
                <a:sym typeface="Space Grotesk"/>
              </a:rPr>
              <a:t>Até a próxima!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3430786" y="4530533"/>
            <a:ext cx="22824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A0AABF"/>
                </a:solidFill>
                <a:latin typeface="Inter"/>
                <a:ea typeface="Inter"/>
                <a:cs typeface="Inter"/>
                <a:sym typeface="Inter"/>
              </a:rPr>
              <a:t>NAPOLEÃO • TAINARA • JÚLIA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8738202" y="4722019"/>
            <a:ext cx="12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AB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0AAB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artoon drawing of a bear and a hamster standing next to each other (Provided by Tenor)" id="371" name="Google Shape;37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9250" y="523347"/>
            <a:ext cx="3421550" cy="26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